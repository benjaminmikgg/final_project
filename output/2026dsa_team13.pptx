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1" r:id="rId2"/>
    <p:sldId id="302" r:id="rId3"/>
    <p:sldId id="303" r:id="rId4"/>
    <p:sldId id="304" r:id="rId5"/>
    <p:sldId id="30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8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771E2-AC70-413B-8313-F6C193B4A631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DB57C-6778-4E09-8578-78B515C4A4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56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 introduction </a:t>
            </a:r>
          </a:p>
          <a:p>
            <a:r>
              <a:rPr lang="en-US" dirty="0"/>
              <a:t>Title. Hyperspectral imaging or HSI</a:t>
            </a:r>
          </a:p>
          <a:p>
            <a:r>
              <a:rPr lang="en-US" dirty="0"/>
              <a:t>department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66BAF5-624B-DA44-80B5-A91D16DD30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37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973F-6D1F-F755-8F60-D9AE2562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E1777-BD63-73DF-7427-D8FA7A22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680CE-AF61-4FFC-4A06-D12B0E46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why we need Hyperspectral imaging</a:t>
            </a:r>
          </a:p>
          <a:p>
            <a:r>
              <a:rPr lang="en-US" dirty="0"/>
              <a:t>Before that,  we need to learn about spectral info</a:t>
            </a:r>
          </a:p>
          <a:p>
            <a:r>
              <a:rPr lang="en-US" dirty="0"/>
              <a:t>Our environment contains </a:t>
            </a:r>
          </a:p>
          <a:p>
            <a:r>
              <a:rPr lang="en-US" dirty="0"/>
              <a:t>Their 400-700 band, and RGB</a:t>
            </a:r>
          </a:p>
          <a:p>
            <a:r>
              <a:rPr lang="en-US" dirty="0"/>
              <a:t>But the HIS has hundreds of </a:t>
            </a:r>
            <a:r>
              <a:rPr lang="en-US" dirty="0" err="1"/>
              <a:t>countinuos</a:t>
            </a:r>
            <a:r>
              <a:rPr lang="en-US" dirty="0"/>
              <a:t>  bands</a:t>
            </a:r>
          </a:p>
          <a:p>
            <a:r>
              <a:rPr lang="en-US" dirty="0"/>
              <a:t>So now we have 2-dimensional spatial info, plus 1 dimensional spectral info </a:t>
            </a:r>
          </a:p>
          <a:p>
            <a:r>
              <a:rPr lang="en-US" dirty="0"/>
              <a:t>That’s why we can load this image as 3-d cube into </a:t>
            </a:r>
            <a:r>
              <a:rPr lang="en-US" dirty="0" err="1"/>
              <a:t>numpy</a:t>
            </a:r>
            <a:r>
              <a:rPr lang="en-US" dirty="0"/>
              <a:t> in 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A13D0-1FD9-225C-8262-957B5179D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4CA4C-DC84-4E99-839A-AB4F9DF0AB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90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973F-6D1F-F755-8F60-D9AE2562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E1777-BD63-73DF-7427-D8FA7A22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680CE-AF61-4FFC-4A06-D12B0E46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why we need Hyperspectral imaging</a:t>
            </a:r>
          </a:p>
          <a:p>
            <a:r>
              <a:rPr lang="en-US" dirty="0"/>
              <a:t>Before that,  we need to learn about spectral info</a:t>
            </a:r>
          </a:p>
          <a:p>
            <a:r>
              <a:rPr lang="en-US" dirty="0"/>
              <a:t>Our environment contains </a:t>
            </a:r>
          </a:p>
          <a:p>
            <a:r>
              <a:rPr lang="en-US" dirty="0"/>
              <a:t>Their 400-700 band, and RGB</a:t>
            </a:r>
          </a:p>
          <a:p>
            <a:r>
              <a:rPr lang="en-US" dirty="0"/>
              <a:t>But the HIS has hundreds of </a:t>
            </a:r>
            <a:r>
              <a:rPr lang="en-US" dirty="0" err="1"/>
              <a:t>countinuos</a:t>
            </a:r>
            <a:r>
              <a:rPr lang="en-US" dirty="0"/>
              <a:t>  bands</a:t>
            </a:r>
          </a:p>
          <a:p>
            <a:r>
              <a:rPr lang="en-US" dirty="0"/>
              <a:t>So now we have 2-dimensional spatial info, plus 1 dimensional spectral info </a:t>
            </a:r>
          </a:p>
          <a:p>
            <a:r>
              <a:rPr lang="en-US" dirty="0"/>
              <a:t>That’s why we can load this image as 3-d cube into </a:t>
            </a:r>
            <a:r>
              <a:rPr lang="en-US" dirty="0" err="1"/>
              <a:t>numpy</a:t>
            </a:r>
            <a:r>
              <a:rPr lang="en-US" dirty="0"/>
              <a:t> in 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A13D0-1FD9-225C-8262-957B5179D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4CA4C-DC84-4E99-839A-AB4F9DF0AB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58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973F-6D1F-F755-8F60-D9AE2562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E1777-BD63-73DF-7427-D8FA7A22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680CE-AF61-4FFC-4A06-D12B0E46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why we need Hyperspectral imaging</a:t>
            </a:r>
          </a:p>
          <a:p>
            <a:r>
              <a:rPr lang="en-US" dirty="0"/>
              <a:t>Before that,  we need to learn about spectral info</a:t>
            </a:r>
          </a:p>
          <a:p>
            <a:r>
              <a:rPr lang="en-US" dirty="0"/>
              <a:t>Our environment contains </a:t>
            </a:r>
          </a:p>
          <a:p>
            <a:r>
              <a:rPr lang="en-US" dirty="0"/>
              <a:t>Their 400-700 band, and RGB</a:t>
            </a:r>
          </a:p>
          <a:p>
            <a:r>
              <a:rPr lang="en-US" dirty="0"/>
              <a:t>But the HIS has hundreds of </a:t>
            </a:r>
            <a:r>
              <a:rPr lang="en-US" dirty="0" err="1"/>
              <a:t>countinuos</a:t>
            </a:r>
            <a:r>
              <a:rPr lang="en-US" dirty="0"/>
              <a:t>  bands</a:t>
            </a:r>
          </a:p>
          <a:p>
            <a:r>
              <a:rPr lang="en-US" dirty="0"/>
              <a:t>So now we have 2-dimensional spatial info, plus 1 dimensional spectral info </a:t>
            </a:r>
          </a:p>
          <a:p>
            <a:r>
              <a:rPr lang="en-US" dirty="0"/>
              <a:t>That’s why we can load this image as 3-d cube into </a:t>
            </a:r>
            <a:r>
              <a:rPr lang="en-US" dirty="0" err="1"/>
              <a:t>numpy</a:t>
            </a:r>
            <a:r>
              <a:rPr lang="en-US" dirty="0"/>
              <a:t> in 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A13D0-1FD9-225C-8262-957B5179D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4CA4C-DC84-4E99-839A-AB4F9DF0AB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10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973F-6D1F-F755-8F60-D9AE2562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E1777-BD63-73DF-7427-D8FA7A22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680CE-AF61-4FFC-4A06-D12B0E46E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why we need Hyperspectral imaging</a:t>
            </a:r>
          </a:p>
          <a:p>
            <a:r>
              <a:rPr lang="en-US" dirty="0"/>
              <a:t>Before that,  we need to learn about spectral info</a:t>
            </a:r>
          </a:p>
          <a:p>
            <a:r>
              <a:rPr lang="en-US" dirty="0"/>
              <a:t>Our environment contains </a:t>
            </a:r>
          </a:p>
          <a:p>
            <a:r>
              <a:rPr lang="en-US" dirty="0"/>
              <a:t>Their 400-700 band, and RGB</a:t>
            </a:r>
          </a:p>
          <a:p>
            <a:r>
              <a:rPr lang="en-US" dirty="0"/>
              <a:t>But the HIS has hundreds of </a:t>
            </a:r>
            <a:r>
              <a:rPr lang="en-US" dirty="0" err="1"/>
              <a:t>countinuos</a:t>
            </a:r>
            <a:r>
              <a:rPr lang="en-US" dirty="0"/>
              <a:t>  bands</a:t>
            </a:r>
          </a:p>
          <a:p>
            <a:r>
              <a:rPr lang="en-US" dirty="0"/>
              <a:t>So now we have 2-dimensional spatial info, plus 1 dimensional spectral info </a:t>
            </a:r>
          </a:p>
          <a:p>
            <a:r>
              <a:rPr lang="en-US" dirty="0"/>
              <a:t>That’s why we can load this image as 3-d cube into </a:t>
            </a:r>
            <a:r>
              <a:rPr lang="en-US" dirty="0" err="1"/>
              <a:t>numpy</a:t>
            </a:r>
            <a:r>
              <a:rPr lang="en-US" dirty="0"/>
              <a:t> in 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A13D0-1FD9-225C-8262-957B5179D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4CA4C-DC84-4E99-839A-AB4F9DF0AB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37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319E1-A8C2-47BA-A0F3-671CD1886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EA8DCD-9A64-32ED-58DB-B9147530C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1E3800-26D6-8161-86E7-00312FA2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2F9A9-7203-D4D5-8B8D-F2674027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1ED78B-B5C6-812C-FF42-3258DC02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24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5BFCD-3BA5-EA74-FDE3-7D0C993C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5AE29D-BF05-D5C6-E557-A3392AEA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C0D01A-48E6-9912-BBD4-E82A861A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56A4F-857A-C4A4-143C-0D602DE6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22C68C-BAFD-A548-4182-91326A6B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35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A27F8-C281-77C6-CADC-C9C11805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A09B7D-22CB-8BB6-07E0-8B71AB08C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5A9A5-0B84-900F-8B5A-27E3D93C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598DE0-150E-1D85-7A14-EABD5E17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54B027-34C2-D81C-EE53-DABEA891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05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5E1CA-1427-B785-A5AE-BFB6B18B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216871-3B0F-A009-B540-9386A61E4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FB3296-71B7-388E-4C37-BF5A8C755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265C71-6EEB-DD89-AD8A-A5B1E4525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D62FAD-59A0-2AF4-91EA-460FA99E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C84C29-2DD6-5251-A63E-332CEC0A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53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D5573-4FBE-9753-1C04-5BE52206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8BD4F-E071-2F9A-26F2-821FC4219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E2704C-308F-EA0A-C755-54386C2CD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90858B-B5C0-8BF2-518D-0834D4884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9A8B3B-2B33-D790-A0B5-F8229492F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D09A55-4C78-DD07-E402-EE8B62D4D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53390A-29E5-7E71-C3C8-D8CE3CAF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3E06ED-31DF-EBDA-4660-1A41CDF8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39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9CB1E1-1342-5C75-7AE7-CEE690EEC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837B9B-D1F1-8454-466E-3CEA09ED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9EBD2-3411-07AB-47E2-70190161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648CD2-C89F-0C06-CD56-065B96B9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78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F4BD8D-F10D-683B-C6AF-C143956C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54B65F-258B-97FA-A049-463481B5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9A31BB-C04C-96FF-F927-1BFC7BF0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23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ACAA1-7CDE-28E6-6F81-04E5AD37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39396-5C9A-47C4-E4B7-23F716D9C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56D02C-2680-A7E7-6490-7AD22AD87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3B83BF-B1F2-F10B-6AED-006C01B8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880CAC-06FC-0023-A3E0-A8260FD2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EA3FAB-4104-2F8A-39EC-A99E3412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69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5FD31-DDFF-531B-2316-F2900AD8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00914F-598B-232B-1924-FBEAB06FE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76EFEE-E1C9-0278-7119-C9F2F1077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A4FB1B-6009-6CA0-7FF1-C619DBA0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4AAB55-1A48-DADB-9370-4AFDBF61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472233-B630-0E57-49FE-85C56EE3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21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3DAF4-CC4A-BBC9-B9BC-5012D190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995905-ED4B-6896-5A3B-C6EED4A32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C0D72-A5C0-D7DE-EDD9-68D60B16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D75487-2BE6-9F56-2E48-9242790B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2FDAB-5033-9827-699A-C7A77554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0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119DA3-F663-555C-1431-13902EB87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CD1334-D0CE-D773-4402-A563B5FA4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8BBEE0-A8BA-D3CA-AAFB-399E55DD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8617C3-4A7A-48EE-CB65-C3618AE3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FB668-BA5E-EBAA-86D6-FCBF3D90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228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no 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FDE4C4-60AB-BEBC-8071-D00C37005BAA}"/>
              </a:ext>
            </a:extLst>
          </p:cNvPr>
          <p:cNvCxnSpPr>
            <a:cxnSpLocks/>
          </p:cNvCxnSpPr>
          <p:nvPr userDrawn="1"/>
        </p:nvCxnSpPr>
        <p:spPr>
          <a:xfrm>
            <a:off x="0" y="4407873"/>
            <a:ext cx="12221817" cy="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FE88B008-9826-7DB9-35E6-39F9B0B419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0396" y="4277895"/>
            <a:ext cx="211207" cy="3068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B68C84-A31D-9B14-73E7-7BBED102A02B}"/>
              </a:ext>
            </a:extLst>
          </p:cNvPr>
          <p:cNvSpPr/>
          <p:nvPr userDrawn="1"/>
        </p:nvSpPr>
        <p:spPr>
          <a:xfrm>
            <a:off x="1" y="4667828"/>
            <a:ext cx="12192000" cy="2190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46D512-8B9C-F32F-A79A-05F2506BA8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</a:blip>
          <a:srcRect l="-459" t="68239" r="-1"/>
          <a:stretch/>
        </p:blipFill>
        <p:spPr>
          <a:xfrm>
            <a:off x="-93785" y="4667830"/>
            <a:ext cx="12315602" cy="2190170"/>
          </a:xfrm>
          <a:prstGeom prst="rect">
            <a:avLst/>
          </a:prstGeom>
        </p:spPr>
      </p:pic>
      <p:pic>
        <p:nvPicPr>
          <p:cNvPr id="14" name="Picture 13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73256FAC-375C-EBA2-E173-54B50922B6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1892" y="224379"/>
            <a:ext cx="2047461" cy="66963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86C11-78EE-E61F-9FDA-7872ED4C2F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1588" y="1128713"/>
            <a:ext cx="9648825" cy="1655762"/>
          </a:xfrm>
        </p:spPr>
        <p:txBody>
          <a:bodyPr anchor="b">
            <a:normAutofit/>
          </a:bodyPr>
          <a:lstStyle>
            <a:lvl1pPr marL="0" indent="0" algn="ctr">
              <a:buNone/>
              <a:defRPr sz="44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0363A4-61A0-B836-36A3-DA5FFEEE23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71588" y="2944813"/>
            <a:ext cx="9648825" cy="484187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or Speaker</a:t>
            </a:r>
          </a:p>
        </p:txBody>
      </p:sp>
    </p:spTree>
    <p:extLst>
      <p:ext uri="{BB962C8B-B14F-4D97-AF65-F5344CB8AC3E}">
        <p14:creationId xmlns:p14="http://schemas.microsoft.com/office/powerpoint/2010/main" val="103466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7F5FE8-EEC7-67B2-23CA-6317A09EC1C3}"/>
              </a:ext>
            </a:extLst>
          </p:cNvPr>
          <p:cNvCxnSpPr/>
          <p:nvPr userDrawn="1"/>
        </p:nvCxnSpPr>
        <p:spPr>
          <a:xfrm>
            <a:off x="457200" y="0"/>
            <a:ext cx="0" cy="6858000"/>
          </a:xfrm>
          <a:prstGeom prst="line">
            <a:avLst/>
          </a:prstGeom>
          <a:ln w="19050">
            <a:solidFill>
              <a:srgbClr val="BA0C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red rectangular object with black border&#10;&#10;Description automatically generated with low confidence">
            <a:extLst>
              <a:ext uri="{FF2B5EF4-FFF2-40B4-BE49-F238E27FC236}">
                <a16:creationId xmlns:a16="http://schemas.microsoft.com/office/drawing/2014/main" id="{67EBD65F-7A79-9652-F7C1-6641D58BB6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1596" y="212863"/>
            <a:ext cx="211207" cy="3068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590B2B-7207-6B40-ABBA-4951494CE346}"/>
              </a:ext>
            </a:extLst>
          </p:cNvPr>
          <p:cNvSpPr/>
          <p:nvPr userDrawn="1"/>
        </p:nvSpPr>
        <p:spPr>
          <a:xfrm>
            <a:off x="0" y="6190735"/>
            <a:ext cx="12192000" cy="6672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0CC98B-0236-D532-64F0-10F93006B7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80405" y="6298064"/>
            <a:ext cx="3989897" cy="452606"/>
          </a:xfrm>
          <a:prstGeom prst="rect">
            <a:avLst/>
          </a:prstGeom>
        </p:spPr>
      </p:pic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7F54ED46-1EA9-A562-A3EA-59063A4719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046" y="342521"/>
            <a:ext cx="11099864" cy="801687"/>
          </a:xfrm>
        </p:spPr>
        <p:txBody>
          <a:bodyPr anchor="b">
            <a:normAutofit/>
          </a:bodyPr>
          <a:lstStyle>
            <a:lvl1pPr marL="0" indent="0">
              <a:buNone/>
              <a:defRPr sz="4000" b="1" i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EFA7AA-E5D0-B3D1-56EA-52FE09A4CA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046" y="1379538"/>
            <a:ext cx="11099867" cy="44354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B81FB0-4D6C-66BC-FF46-EDCBF71079F1}"/>
              </a:ext>
            </a:extLst>
          </p:cNvPr>
          <p:cNvSpPr txBox="1">
            <a:spLocks/>
          </p:cNvSpPr>
          <p:nvPr userDrawn="1"/>
        </p:nvSpPr>
        <p:spPr>
          <a:xfrm>
            <a:off x="221698" y="6350309"/>
            <a:ext cx="56254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5A9C333-8DEA-A549-BB52-FB8135D4E171}" type="slidenum">
              <a:rPr lang="en-US" sz="1000" b="1" i="0" u="none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pPr algn="l"/>
              <a:t>‹#›</a:t>
            </a:fld>
            <a:endParaRPr lang="en-US" sz="800" b="1" i="0" u="none" dirty="0">
              <a:solidFill>
                <a:schemeClr val="bg1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15" name="Text Placeholder 27">
            <a:extLst>
              <a:ext uri="{FF2B5EF4-FFF2-40B4-BE49-F238E27FC236}">
                <a16:creationId xmlns:a16="http://schemas.microsoft.com/office/drawing/2014/main" id="{9C7B3A80-3F7A-CC1E-A5F0-B575EC4536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923" y="6384666"/>
            <a:ext cx="4473575" cy="279400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footer</a:t>
            </a:r>
          </a:p>
        </p:txBody>
      </p:sp>
    </p:spTree>
    <p:extLst>
      <p:ext uri="{BB962C8B-B14F-4D97-AF65-F5344CB8AC3E}">
        <p14:creationId xmlns:p14="http://schemas.microsoft.com/office/powerpoint/2010/main" val="420983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025D289-B39A-6463-2A9E-20E371D99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699014-6D0E-B407-229A-BA63FA0EA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96FF56-22CF-1503-15A4-6F97F49CF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9C529-C823-4C0B-BEDA-28EEE83F15A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369F45-D329-4CCB-898C-184DCB8B0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5F20F1-F8EB-DD06-D20C-96EBC67DA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3CF09-3C44-4444-8AD3-C477C049D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87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gyawali.shinyapps.io/Cor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1DA75D-A714-AB38-4DAE-A021D8BDBB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967" y="883054"/>
            <a:ext cx="11395881" cy="1816100"/>
          </a:xfrm>
        </p:spPr>
        <p:txBody>
          <a:bodyPr>
            <a:normAutofit/>
          </a:bodyPr>
          <a:lstStyle/>
          <a:p>
            <a:r>
              <a:rPr lang="en-US" altLang="zh-CN" dirty="0"/>
              <a:t>Result of Final Project</a:t>
            </a:r>
            <a:endParaRPr lang="en-US" altLang="zh-C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C247-A5A4-BDE6-1270-AD62A559F2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Ishwari &amp; Ming</a:t>
            </a:r>
          </a:p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25366BF-1744-AAC4-FC9B-16080C7E485A}"/>
              </a:ext>
            </a:extLst>
          </p:cNvPr>
          <p:cNvSpPr txBox="1">
            <a:spLocks/>
          </p:cNvSpPr>
          <p:nvPr/>
        </p:nvSpPr>
        <p:spPr>
          <a:xfrm>
            <a:off x="1271587" y="3561237"/>
            <a:ext cx="9648825" cy="484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2026 Dsa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01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3492-678A-87B3-77B0-80A04A11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68B284-531F-6189-F30B-ABBC23AB53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Result of prediction on test set</a:t>
            </a:r>
          </a:p>
        </p:txBody>
      </p:sp>
      <p:pic>
        <p:nvPicPr>
          <p:cNvPr id="1026" name="Picture 2" descr="A CLDDLC. L AT &#10;.metric .estimator .estimate .config &#10;&lt;chr&gt; &#10;&lt;chr&gt; &#10;&lt;dbl&gt; &lt;chr&gt; &#10;1 rmse &#10;standard &#10;1.82 pre0_mod0_post0 &#10;2 rsq &#10;standard &#10;0.654 pre0_mod0_post0 ">
            <a:extLst>
              <a:ext uri="{FF2B5EF4-FFF2-40B4-BE49-F238E27FC236}">
                <a16:creationId xmlns:a16="http://schemas.microsoft.com/office/drawing/2014/main" id="{67909259-151E-11FB-5821-F3BC95627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44" y="3181616"/>
            <a:ext cx="5366347" cy="12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.metric .estimator .estimate .config &#10;&lt;chr&gt; &#10;&lt;chr&gt; &#10;&lt;dbl&gt; &lt;chr&gt; &#10;1 rmse &#10;standard &#10;1.83 pre0_mod_post0 &#10;2 rsq &#10;standard &#10;0.650 pre0_mod0_post0 ">
            <a:extLst>
              <a:ext uri="{FF2B5EF4-FFF2-40B4-BE49-F238E27FC236}">
                <a16:creationId xmlns:a16="http://schemas.microsoft.com/office/drawing/2014/main" id="{6F9B03D7-5DB8-A289-12C0-9B3D1168B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87350"/>
            <a:ext cx="5818750" cy="123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5052346-0919-9CEB-BB24-B987E5C5E5FC}"/>
              </a:ext>
            </a:extLst>
          </p:cNvPr>
          <p:cNvSpPr txBox="1"/>
          <p:nvPr/>
        </p:nvSpPr>
        <p:spPr>
          <a:xfrm>
            <a:off x="646046" y="1978246"/>
            <a:ext cx="5532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model: </a:t>
            </a:r>
            <a:r>
              <a:rPr lang="en-US" altLang="zh-CN" sz="3200" b="1" dirty="0" err="1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US" altLang="zh-CN" sz="3200" b="1" dirty="0">
              <a:solidFill>
                <a:srgbClr val="BA0C2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5CDBE3-4AC9-67BC-6177-F5C7766AD911}"/>
              </a:ext>
            </a:extLst>
          </p:cNvPr>
          <p:cNvSpPr txBox="1"/>
          <p:nvPr/>
        </p:nvSpPr>
        <p:spPr>
          <a:xfrm>
            <a:off x="6195978" y="1978246"/>
            <a:ext cx="5730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BA0C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model: LIGHTGBM</a:t>
            </a:r>
          </a:p>
        </p:txBody>
      </p:sp>
    </p:spTree>
    <p:extLst>
      <p:ext uri="{BB962C8B-B14F-4D97-AF65-F5344CB8AC3E}">
        <p14:creationId xmlns:p14="http://schemas.microsoft.com/office/powerpoint/2010/main" val="69221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3492-678A-87B3-77B0-80A04A11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68B284-531F-6189-F30B-ABBC23AB53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Predicted vs Observed Plot</a:t>
            </a:r>
          </a:p>
        </p:txBody>
      </p:sp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A4DF3D4D-C25B-90F1-D9B6-F86D9AA14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66" y="1736957"/>
            <a:ext cx="5743712" cy="3831011"/>
          </a:xfrm>
          <a:prstGeom prst="rect">
            <a:avLst/>
          </a:prstGeom>
        </p:spPr>
      </p:pic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C806DF8C-5F38-1CC0-2AB0-FA1068DD5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488" y="1736957"/>
            <a:ext cx="5634861" cy="375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3492-678A-87B3-77B0-80A04A11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68B284-531F-6189-F30B-ABBC23AB53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Variable Importance</a:t>
            </a:r>
          </a:p>
        </p:txBody>
      </p: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06FFB9B7-7DF6-CCC6-8C86-A1E0B6D65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517" y="1144208"/>
            <a:ext cx="5731442" cy="4298581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2EC32E39-0C10-188F-49A4-7A2D0248B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45" y="1144208"/>
            <a:ext cx="4885773" cy="427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6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73492-678A-87B3-77B0-80A04A11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B68B284-531F-6189-F30B-ABBC23AB53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Shiny app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0A5067-AC80-3F94-6404-C3D16CA60B83}"/>
              </a:ext>
            </a:extLst>
          </p:cNvPr>
          <p:cNvSpPr txBox="1"/>
          <p:nvPr/>
        </p:nvSpPr>
        <p:spPr>
          <a:xfrm>
            <a:off x="646046" y="1333256"/>
            <a:ext cx="8355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🌽 </a:t>
            </a:r>
            <a:r>
              <a:rPr lang="en-US" altLang="zh-CN" dirty="0">
                <a:hlinkClick r:id="rId3"/>
              </a:rPr>
              <a:t>Corn Yield Prediction – </a:t>
            </a:r>
            <a:r>
              <a:rPr lang="en-US" altLang="zh-CN" dirty="0" err="1">
                <a:hlinkClick r:id="rId3"/>
              </a:rPr>
              <a:t>XGBoost</a:t>
            </a:r>
            <a:r>
              <a:rPr lang="en-US" altLang="zh-CN" dirty="0">
                <a:hlinkClick r:id="rId3"/>
              </a:rPr>
              <a:t> R² = 0.6536 RMSE = 1.8177 Mg/ha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2424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300</Words>
  <Application>Microsoft Office PowerPoint</Application>
  <PresentationFormat>宽屏</PresentationFormat>
  <Paragraphs>46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Zhou</dc:creator>
  <cp:lastModifiedBy>LI Zhou</cp:lastModifiedBy>
  <cp:revision>2</cp:revision>
  <dcterms:created xsi:type="dcterms:W3CDTF">2026-04-27T14:22:51Z</dcterms:created>
  <dcterms:modified xsi:type="dcterms:W3CDTF">2026-04-27T14:34:24Z</dcterms:modified>
</cp:coreProperties>
</file>